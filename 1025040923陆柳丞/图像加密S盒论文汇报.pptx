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 w="12700">
            <a:solidFill>
              <a:srgbClr val="F8F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面向图像加密的 S 盒设计与安全性评价研究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6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S-box for Image Encryption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487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作者：陆柳丞</a:t>
            </a:r>
            <a:endParaRPr lang="en-US" sz="1600" dirty="0"/>
          </a:p>
        </p:txBody>
      </p:sp>
      <p:pic>
        <p:nvPicPr>
          <p:cNvPr id="6" name="Image 0" descr="/Users/xiaolu/Desktop/作业/图像加密S盒论文/figures/fig01_sbox_encrypt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70432"/>
            <a:ext cx="681228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5989320"/>
            <a:ext cx="1078992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172200"/>
            <a:ext cx="76809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课程论文汇报 | 图像加密、混沌系统与密码学评价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研究问题：为什么图像加密需要高质量 S 盒？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32461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00200"/>
            <a:ext cx="6400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64792"/>
            <a:ext cx="2880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图像数据的特殊性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2167128"/>
            <a:ext cx="2898648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相邻像素强相关，直方图和纹理结构会泄露内容轮廓。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999232"/>
            <a:ext cx="32461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99232"/>
            <a:ext cx="64008" cy="1188720"/>
          </a:xfrm>
          <a:prstGeom prst="rect">
            <a:avLst/>
          </a:prstGeom>
          <a:solidFill>
            <a:srgbClr val="2266A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163824"/>
            <a:ext cx="2880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盒承担非线性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3566160"/>
            <a:ext cx="2898648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bit 像素替代层把灰度映射为新值，是抵抗线性/差分分析的核心。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407408"/>
            <a:ext cx="32461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407408"/>
            <a:ext cx="6400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572000"/>
            <a:ext cx="2880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动态化不是安全证明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4974336"/>
            <a:ext cx="2898648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混沌序列可以增强密钥敏感性，但候选 S 盒必须通过盒级检测。</a:t>
            </a:r>
            <a:endParaRPr lang="en-US" sz="1050" dirty="0"/>
          </a:p>
        </p:txBody>
      </p:sp>
      <p:pic>
        <p:nvPicPr>
          <p:cNvPr id="19" name="Image 0" descr="/Users/xiaolu/Desktop/作业/图像加密S盒论文/figures/fig05_adjacent_pixel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508760"/>
            <a:ext cx="7059168" cy="44074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整体框架：替代、置乱、扩散协同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1_sbox_encrypt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1092708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 盒：以 AES S 盒为可验证参照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2_aes_sbox_matrix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26464"/>
            <a:ext cx="5742432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627632"/>
            <a:ext cx="452628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有限域求逆 + 仿射变换，结构公开且便于复核。</a:t>
            </a:r>
            <a:endParaRPr lang="en-US" sz="1400" dirty="0"/>
          </a:p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固定盒实现简单、指标稳定，适合作为动态构造的基准。</a:t>
            </a:r>
            <a:endParaRPr lang="en-US" sz="1400" dirty="0"/>
          </a:p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不足：所有密钥共享同一替代表，外层密钥调度必须足够强。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S 盒：混沌序列提供扰动，筛选机制决定质量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3_logistic_chaotic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394960" cy="4370832"/>
          </a:xfrm>
          <a:prstGeom prst="rect">
            <a:avLst/>
          </a:prstGeom>
        </p:spPr>
      </p:pic>
      <p:pic>
        <p:nvPicPr>
          <p:cNvPr id="8" name="Image 1" descr="/Users/xiaolu/Desktop/作业/图像加密S盒论文/figures/fig09_dynamic_sbox_wor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03520" cy="43708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盒级评价：DDT 检测差分集中程度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6_differential_distributi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6419088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82880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828800"/>
            <a:ext cx="64008" cy="1417320"/>
          </a:xfrm>
          <a:prstGeom prst="rect">
            <a:avLst/>
          </a:prstGeom>
          <a:solidFill>
            <a:srgbClr val="2266A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07808" y="1993392"/>
            <a:ext cx="33375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07808" y="2395728"/>
            <a:ext cx="3355848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DDT 的最大非平凡计数越小，输入差分越难稳定预测输出差分。AES S 盒除零行外最大计数为 4。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3547872"/>
            <a:ext cx="37033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3547872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3712464"/>
            <a:ext cx="33375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用于动态盒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07808" y="4114800"/>
            <a:ext cx="3355848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每次密钥驱动生成后都应计算 DDT，不合格候选盒直接拒绝。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盒级评价：LAT 检测线性近似偏差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7_linear_approximati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6419088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 统计输入掩码与输出掩码的线性相关偏差。</a:t>
            </a:r>
            <a:endParaRPr lang="en-US" sz="1400" dirty="0"/>
          </a:p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偏差越小，线性密码分析越难形成有效近似。</a:t>
            </a:r>
            <a:endParaRPr lang="en-US" sz="1400" dirty="0"/>
          </a:p>
          <a:p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S 盒不能只看随机性，还要看整张 LAT 的极值。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图像级评价：直方图与相关性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4_histogra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394960" cy="4352544"/>
          </a:xfrm>
          <a:prstGeom prst="rect">
            <a:avLst/>
          </a:prstGeom>
        </p:spPr>
      </p:pic>
      <p:pic>
        <p:nvPicPr>
          <p:cNvPr id="8" name="Image 1" descr="/Users/xiaolu/Desktop/作业/图像加密S盒论文/figures/fig05_adjacent_pixel_corre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17320"/>
            <a:ext cx="5394960" cy="43525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指标体系：盒级指标 + 图像级指标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pic>
        <p:nvPicPr>
          <p:cNvPr id="7" name="Image 0" descr="/Users/xiaolu/Desktop/作业/图像加密S盒论文/figures/fig08_security_metric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5715000" cy="4480560"/>
          </a:xfrm>
          <a:prstGeom prst="rect">
            <a:avLst/>
          </a:prstGeom>
        </p:spPr>
      </p:pic>
      <p:pic>
        <p:nvPicPr>
          <p:cNvPr id="8" name="Image 1" descr="/Users/xiaolu/Desktop/作业/图像加密S盒论文/figures/fig10_metric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389888"/>
            <a:ext cx="5285232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设计建议：以拒绝采样避免弱盒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572768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64008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先保证可逆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2139696"/>
            <a:ext cx="3127248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S 盒必须是 0-255 的双射，否则无法可靠解密。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1572768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572768"/>
            <a:ext cx="64008" cy="1234440"/>
          </a:xfrm>
          <a:prstGeom prst="rect">
            <a:avLst/>
          </a:prstGeom>
          <a:solidFill>
            <a:srgbClr val="2266A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再做盒级检测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2139696"/>
            <a:ext cx="3127248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非线性、DU、SAC、LAT 极值同时检查，不满足阈值就重新生成。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1572768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572768"/>
            <a:ext cx="64008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最后做图像测试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6176" y="2139696"/>
            <a:ext cx="3127248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熵、相关性、NPCR、UACI 在多图像、多密钥上重复报告。</a:t>
            </a:r>
            <a:endParaRPr lang="en-US" sz="1050" dirty="0"/>
          </a:p>
        </p:txBody>
      </p:sp>
      <p:pic>
        <p:nvPicPr>
          <p:cNvPr id="19" name="Image 0" descr="/Users/xiaolu/Desktop/作业/图像加密S盒论文/figures/fig09_dynamic_sbox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090672"/>
            <a:ext cx="9875520" cy="285292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论文结论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536192"/>
            <a:ext cx="48006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盒是图像加密从“随机外观”走向“可分析安全”的关键部件。</a:t>
            </a:r>
            <a:endParaRPr lang="en-US" sz="1600" dirty="0"/>
          </a:p>
          <a:p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 盒稳定可验证，动态 S 盒增强密钥相关性，但必须接受指标筛选。</a:t>
            </a:r>
            <a:endParaRPr lang="en-US" sz="1600" dirty="0"/>
          </a:p>
          <a:p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可靠论文应同时报告盒级密码学指标和图像级统计指标。</a:t>
            </a:r>
            <a:endParaRPr lang="en-US" sz="1600" dirty="0"/>
          </a:p>
          <a:p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混沌映射不能替代安全证明；复现实验、参数公开和攻击模型同样重要。</a:t>
            </a:r>
            <a:endParaRPr lang="en-US" sz="1600" dirty="0"/>
          </a:p>
        </p:txBody>
      </p:sp>
      <p:pic>
        <p:nvPicPr>
          <p:cNvPr id="8" name="Image 0" descr="/Users/xiaolu/Desktop/作业/图像加密S盒论文/figures/fig08_security_metric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25880"/>
            <a:ext cx="530352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图像加密 / S 盒 / 安全评价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参考文献与致谢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82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陆柳丞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1417320"/>
            <a:ext cx="1024128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NIST. Advanced Encryption Standard (AES), FIPS 197, updated 2023.</a:t>
            </a:r>
            <a:endParaRPr lang="en-US" sz="1280" dirty="0"/>
          </a:p>
          <a:p>
            <a:r>
              <a:rPr lang="en-US" sz="12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Daemen &amp; Rijmen. The Design of Rijndael, 2002.</a:t>
            </a:r>
            <a:endParaRPr lang="en-US" sz="1280" dirty="0"/>
          </a:p>
          <a:p>
            <a:r>
              <a:rPr lang="en-US" sz="12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Nyberg. Differentially uniform mappings for cryptography, EUROCRYPT 1993.</a:t>
            </a:r>
            <a:endParaRPr lang="en-US" sz="1280" dirty="0"/>
          </a:p>
          <a:p>
            <a:r>
              <a:rPr lang="en-US" sz="12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Shannon. Communication theory of secrecy systems, 1949.</a:t>
            </a:r>
            <a:endParaRPr lang="en-US" sz="1280" dirty="0"/>
          </a:p>
          <a:p>
            <a:r>
              <a:rPr lang="en-US" sz="12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Wong et al. Fast image encryption based on chaotic standard map, 2008.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41248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21945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作者：陆柳丞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77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面向图像加密的 S 盒设计与安全性评价研究</dc:title>
  <dc:subject>图像加密 S 盒</dc:subject>
  <dc:creator>陆柳丞</dc:creator>
  <cp:lastModifiedBy>陆柳丞</cp:lastModifiedBy>
  <cp:revision>1</cp:revision>
  <dcterms:created xsi:type="dcterms:W3CDTF">2026-06-12T05:26:47Z</dcterms:created>
  <dcterms:modified xsi:type="dcterms:W3CDTF">2026-06-12T05:26:47Z</dcterms:modified>
</cp:coreProperties>
</file>